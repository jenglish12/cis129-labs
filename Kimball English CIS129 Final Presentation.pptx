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Nuni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regular.fntdata"/><Relationship Id="rId11" Type="http://schemas.openxmlformats.org/officeDocument/2006/relationships/slide" Target="slides/slide6.xml"/><Relationship Id="rId22" Type="http://schemas.openxmlformats.org/officeDocument/2006/relationships/font" Target="fonts/Nunito-italic.fntdata"/><Relationship Id="rId10" Type="http://schemas.openxmlformats.org/officeDocument/2006/relationships/slide" Target="slides/slide5.xml"/><Relationship Id="rId21" Type="http://schemas.openxmlformats.org/officeDocument/2006/relationships/font" Target="fonts/Nuni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Nuni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1e7972785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1e7972785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20d337a31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20d337a31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1e79727857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1e7972785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1cc2cd3dd2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1cc2cd3dd2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1cc2cd3dd2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1cc2cd3dd2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20d337a314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20d337a31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20d337a314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20d337a314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20d337a314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20d337a314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20d337a314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20d337a314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20d337a314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20d337a314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1e79727857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1e79727857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1cc2cd3dd2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1cc2cd3dd2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1e79727857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1e79727857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1cc2cd3dd2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1cc2cd3dd2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3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3"/>
          <p:cNvSpPr/>
          <p:nvPr/>
        </p:nvSpPr>
        <p:spPr>
          <a:xfrm>
            <a:off x="-323100" y="-192825"/>
            <a:ext cx="9630300" cy="5409300"/>
          </a:xfrm>
          <a:prstGeom prst="rect">
            <a:avLst/>
          </a:prstGeom>
          <a:solidFill>
            <a:srgbClr val="20212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4" title="20241207_131529.jpg"/>
          <p:cNvPicPr preferRelativeResize="0"/>
          <p:nvPr/>
        </p:nvPicPr>
        <p:blipFill rotWithShape="1">
          <a:blip r:embed="rId3">
            <a:alphaModFix/>
          </a:blip>
          <a:srcRect b="65926" l="0" r="63976" t="7056"/>
          <a:stretch/>
        </p:blipFill>
        <p:spPr>
          <a:xfrm>
            <a:off x="0" y="0"/>
            <a:ext cx="914400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5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5"/>
          <p:cNvSpPr/>
          <p:nvPr/>
        </p:nvSpPr>
        <p:spPr>
          <a:xfrm>
            <a:off x="-323100" y="-192825"/>
            <a:ext cx="9630300" cy="5409300"/>
          </a:xfrm>
          <a:prstGeom prst="rect">
            <a:avLst/>
          </a:prstGeom>
          <a:solidFill>
            <a:srgbClr val="20212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"/>
          <p:cNvSpPr txBox="1"/>
          <p:nvPr>
            <p:ph idx="1" type="body"/>
          </p:nvPr>
        </p:nvSpPr>
        <p:spPr>
          <a:xfrm>
            <a:off x="0" y="1532125"/>
            <a:ext cx="91440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Verdana"/>
                <a:ea typeface="Verdana"/>
                <a:cs typeface="Verdana"/>
                <a:sym typeface="Verdana"/>
              </a:rPr>
              <a:t>(username : prefrenceString)</a:t>
            </a:r>
            <a:endParaRPr sz="60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8" name="Google Shape;148;p16"/>
          <p:cNvSpPr txBox="1"/>
          <p:nvPr/>
        </p:nvSpPr>
        <p:spPr>
          <a:xfrm>
            <a:off x="0" y="3418550"/>
            <a:ext cx="9144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(username : [haircutBool, sideInt, topInt, neckInt, styleString])</a:t>
            </a:r>
            <a:endParaRPr sz="15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 txBox="1"/>
          <p:nvPr>
            <p:ph type="title"/>
          </p:nvPr>
        </p:nvSpPr>
        <p:spPr>
          <a:xfrm>
            <a:off x="3462000" y="829950"/>
            <a:ext cx="22200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 Method</a:t>
            </a:r>
            <a:endParaRPr/>
          </a:p>
        </p:txBody>
      </p:sp>
      <p:sp>
        <p:nvSpPr>
          <p:cNvPr id="154" name="Google Shape;154;p17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02122"/>
                </a:solidFill>
                <a:highlight>
                  <a:schemeClr val="dk1"/>
                </a:highlight>
                <a:latin typeface="Verdana"/>
                <a:ea typeface="Verdana"/>
                <a:cs typeface="Verdana"/>
                <a:sym typeface="Verdana"/>
              </a:rPr>
              <a:t>Open database.csv</a:t>
            </a:r>
            <a:endParaRPr sz="1500">
              <a:solidFill>
                <a:srgbClr val="202122"/>
              </a:solidFill>
              <a:highlight>
                <a:schemeClr val="dk1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02122"/>
                </a:solidFill>
                <a:highlight>
                  <a:schemeClr val="dk1"/>
                </a:highlight>
                <a:latin typeface="Verdana"/>
                <a:ea typeface="Verdana"/>
                <a:cs typeface="Verdana"/>
                <a:sym typeface="Verdana"/>
              </a:rPr>
              <a:t>	For each line in database</a:t>
            </a:r>
            <a:endParaRPr sz="1500">
              <a:solidFill>
                <a:srgbClr val="202122"/>
              </a:solidFill>
              <a:highlight>
                <a:schemeClr val="dk1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02122"/>
                </a:solidFill>
                <a:highlight>
                  <a:schemeClr val="dk1"/>
                </a:highlight>
                <a:latin typeface="Verdana"/>
                <a:ea typeface="Verdana"/>
                <a:cs typeface="Verdana"/>
                <a:sym typeface="Verdana"/>
              </a:rPr>
              <a:t>		localDatabase.update(name, [</a:t>
            </a:r>
            <a:r>
              <a:rPr lang="en" sz="1466">
                <a:latin typeface="Verdana"/>
                <a:ea typeface="Verdana"/>
                <a:cs typeface="Verdana"/>
                <a:sym typeface="Verdana"/>
              </a:rPr>
              <a:t>haircutBool, sideInt, topInt, neckInt, 							styleString</a:t>
            </a:r>
            <a:r>
              <a:rPr lang="en" sz="1500">
                <a:solidFill>
                  <a:srgbClr val="202122"/>
                </a:solidFill>
                <a:highlight>
                  <a:schemeClr val="dk1"/>
                </a:highlight>
                <a:latin typeface="Verdana"/>
                <a:ea typeface="Verdana"/>
                <a:cs typeface="Verdana"/>
                <a:sym typeface="Verdana"/>
              </a:rPr>
              <a:t>)</a:t>
            </a:r>
            <a:endParaRPr sz="1500">
              <a:solidFill>
                <a:srgbClr val="202122"/>
              </a:solidFill>
              <a:highlight>
                <a:schemeClr val="dk1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rgbClr val="202122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8"/>
          <p:cNvSpPr txBox="1"/>
          <p:nvPr>
            <p:ph type="title"/>
          </p:nvPr>
        </p:nvSpPr>
        <p:spPr>
          <a:xfrm>
            <a:off x="3140250" y="689250"/>
            <a:ext cx="28635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Return Method</a:t>
            </a:r>
            <a:endParaRPr/>
          </a:p>
        </p:txBody>
      </p:sp>
      <p:sp>
        <p:nvSpPr>
          <p:cNvPr id="160" name="Google Shape;160;p18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02122"/>
                </a:solidFill>
                <a:highlight>
                  <a:schemeClr val="dk1"/>
                </a:highlight>
                <a:latin typeface="Verdana"/>
                <a:ea typeface="Verdana"/>
                <a:cs typeface="Verdana"/>
                <a:sym typeface="Verdana"/>
              </a:rPr>
              <a:t>Open database.csv</a:t>
            </a:r>
            <a:endParaRPr sz="1500">
              <a:solidFill>
                <a:srgbClr val="202122"/>
              </a:solidFill>
              <a:highlight>
                <a:schemeClr val="dk1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02122"/>
                </a:solidFill>
                <a:highlight>
                  <a:schemeClr val="dk1"/>
                </a:highlight>
                <a:latin typeface="Verdana"/>
                <a:ea typeface="Verdana"/>
                <a:cs typeface="Verdana"/>
                <a:sym typeface="Verdana"/>
              </a:rPr>
              <a:t>	For each line in localDatabase</a:t>
            </a:r>
            <a:endParaRPr sz="1500">
              <a:solidFill>
                <a:srgbClr val="202122"/>
              </a:solidFill>
              <a:highlight>
                <a:schemeClr val="dk1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02122"/>
                </a:solidFill>
                <a:highlight>
                  <a:schemeClr val="dk1"/>
                </a:highlight>
                <a:latin typeface="Verdana"/>
                <a:ea typeface="Verdana"/>
                <a:cs typeface="Verdana"/>
                <a:sym typeface="Verdana"/>
              </a:rPr>
              <a:t>		database.update(name, [</a:t>
            </a:r>
            <a:r>
              <a:rPr lang="en" sz="1466">
                <a:latin typeface="Verdana"/>
                <a:ea typeface="Verdana"/>
                <a:cs typeface="Verdana"/>
                <a:sym typeface="Verdana"/>
              </a:rPr>
              <a:t>haircutBool, sideInt, topInt, neckInt, 									styleString</a:t>
            </a:r>
            <a:r>
              <a:rPr lang="en" sz="1500">
                <a:solidFill>
                  <a:srgbClr val="202122"/>
                </a:solidFill>
                <a:highlight>
                  <a:schemeClr val="dk1"/>
                </a:highlight>
                <a:latin typeface="Verdana"/>
                <a:ea typeface="Verdana"/>
                <a:cs typeface="Verdana"/>
                <a:sym typeface="Verdana"/>
              </a:rPr>
              <a:t>)</a:t>
            </a:r>
            <a:endParaRPr sz="1500">
              <a:solidFill>
                <a:srgbClr val="202122"/>
              </a:solidFill>
              <a:highlight>
                <a:schemeClr val="dk1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rgbClr val="202122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9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Adding Method</a:t>
            </a:r>
            <a:endParaRPr/>
          </a:p>
        </p:txBody>
      </p:sp>
      <p:sp>
        <p:nvSpPr>
          <p:cNvPr id="166" name="Google Shape;166;p19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02122"/>
                </a:solidFill>
                <a:highlight>
                  <a:schemeClr val="dk1"/>
                </a:highlight>
                <a:latin typeface="Verdana"/>
                <a:ea typeface="Verdana"/>
                <a:cs typeface="Verdana"/>
                <a:sym typeface="Verdana"/>
              </a:rPr>
              <a:t>database.update(name, [</a:t>
            </a:r>
            <a:r>
              <a:rPr lang="en" sz="1466">
                <a:latin typeface="Verdana"/>
                <a:ea typeface="Verdana"/>
                <a:cs typeface="Verdana"/>
                <a:sym typeface="Verdana"/>
              </a:rPr>
              <a:t>haircutBool, sideInt, topInt, neckInt, styleString]</a:t>
            </a:r>
            <a:r>
              <a:rPr lang="en" sz="1500">
                <a:solidFill>
                  <a:srgbClr val="202122"/>
                </a:solidFill>
                <a:highlight>
                  <a:schemeClr val="dk1"/>
                </a:highlight>
                <a:latin typeface="Verdana"/>
                <a:ea typeface="Verdana"/>
                <a:cs typeface="Verdana"/>
                <a:sym typeface="Verdana"/>
              </a:rPr>
              <a:t>)</a:t>
            </a:r>
            <a:endParaRPr sz="1500">
              <a:solidFill>
                <a:srgbClr val="202122"/>
              </a:solidFill>
              <a:highlight>
                <a:schemeClr val="dk1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202122"/>
              </a:solidFill>
              <a:highlight>
                <a:schemeClr val="dk1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202122"/>
              </a:solidFill>
              <a:highlight>
                <a:schemeClr val="dk1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rgbClr val="202122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Update Method</a:t>
            </a:r>
            <a:endParaRPr/>
          </a:p>
        </p:txBody>
      </p:sp>
      <p:sp>
        <p:nvSpPr>
          <p:cNvPr id="172" name="Google Shape;172;p20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3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45">
                <a:solidFill>
                  <a:srgbClr val="202122"/>
                </a:solidFill>
                <a:highlight>
                  <a:schemeClr val="dk1"/>
                </a:highlight>
                <a:latin typeface="Verdana"/>
                <a:ea typeface="Verdana"/>
                <a:cs typeface="Verdana"/>
                <a:sym typeface="Verdana"/>
              </a:rPr>
              <a:t>tempFile []</a:t>
            </a:r>
            <a:r>
              <a:rPr lang="en" sz="4445">
                <a:solidFill>
                  <a:srgbClr val="202122"/>
                </a:solidFill>
                <a:latin typeface="Verdana"/>
                <a:ea typeface="Verdana"/>
                <a:cs typeface="Verdana"/>
                <a:sym typeface="Verdana"/>
              </a:rPr>
              <a:t> = database(name)</a:t>
            </a:r>
            <a:endParaRPr sz="4445">
              <a:solidFill>
                <a:srgbClr val="20212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445">
                <a:solidFill>
                  <a:srgbClr val="202122"/>
                </a:solidFill>
                <a:highlight>
                  <a:schemeClr val="dk1"/>
                </a:highlight>
                <a:latin typeface="Verdana"/>
                <a:ea typeface="Verdana"/>
                <a:cs typeface="Verdana"/>
                <a:sym typeface="Verdana"/>
              </a:rPr>
              <a:t>Userinput [haircutBool, sideInt, topInt, neckInt, styleString]</a:t>
            </a:r>
            <a:endParaRPr sz="4445">
              <a:solidFill>
                <a:srgbClr val="202122"/>
              </a:solidFill>
              <a:highlight>
                <a:schemeClr val="dk1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445">
                <a:solidFill>
                  <a:srgbClr val="202122"/>
                </a:solidFill>
                <a:highlight>
                  <a:schemeClr val="dk1"/>
                </a:highlight>
                <a:latin typeface="Verdana"/>
                <a:ea typeface="Verdana"/>
                <a:cs typeface="Verdana"/>
                <a:sym typeface="Verdana"/>
              </a:rPr>
              <a:t>For item in temp file</a:t>
            </a:r>
            <a:endParaRPr sz="4445">
              <a:solidFill>
                <a:srgbClr val="202122"/>
              </a:solidFill>
              <a:highlight>
                <a:schemeClr val="dk1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445">
                <a:solidFill>
                  <a:srgbClr val="202122"/>
                </a:solidFill>
                <a:highlight>
                  <a:schemeClr val="dk1"/>
                </a:highlight>
                <a:latin typeface="Verdana"/>
                <a:ea typeface="Verdana"/>
                <a:cs typeface="Verdana"/>
                <a:sym typeface="Verdana"/>
              </a:rPr>
              <a:t>	If tempfile[item] isn’t blank</a:t>
            </a:r>
            <a:endParaRPr sz="4445">
              <a:solidFill>
                <a:srgbClr val="202122"/>
              </a:solidFill>
              <a:highlight>
                <a:schemeClr val="dk1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445">
                <a:solidFill>
                  <a:srgbClr val="202122"/>
                </a:solidFill>
                <a:highlight>
                  <a:schemeClr val="dk1"/>
                </a:highlight>
                <a:latin typeface="Verdana"/>
                <a:ea typeface="Verdana"/>
                <a:cs typeface="Verdana"/>
                <a:sym typeface="Verdana"/>
              </a:rPr>
              <a:t>		Update database[item] to be tempifle[item]</a:t>
            </a:r>
            <a:endParaRPr sz="4445">
              <a:solidFill>
                <a:srgbClr val="202122"/>
              </a:solidFill>
              <a:highlight>
                <a:schemeClr val="dk1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4445">
                <a:solidFill>
                  <a:srgbClr val="202122"/>
                </a:solidFill>
                <a:highlight>
                  <a:schemeClr val="dk1"/>
                </a:highlight>
                <a:latin typeface="Verdana"/>
                <a:ea typeface="Verdana"/>
                <a:cs typeface="Verdana"/>
                <a:sym typeface="Verdana"/>
              </a:rPr>
              <a:t>Delete tempFile </a:t>
            </a:r>
            <a:endParaRPr sz="2920">
              <a:solidFill>
                <a:srgbClr val="202122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 txBox="1"/>
          <p:nvPr>
            <p:ph type="title"/>
          </p:nvPr>
        </p:nvSpPr>
        <p:spPr>
          <a:xfrm>
            <a:off x="819150" y="45475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Program Code</a:t>
            </a:r>
            <a:endParaRPr/>
          </a:p>
        </p:txBody>
      </p:sp>
      <p:sp>
        <p:nvSpPr>
          <p:cNvPr id="178" name="Google Shape;178;p21"/>
          <p:cNvSpPr txBox="1"/>
          <p:nvPr>
            <p:ph idx="1" type="body"/>
          </p:nvPr>
        </p:nvSpPr>
        <p:spPr>
          <a:xfrm>
            <a:off x="311700" y="1152475"/>
            <a:ext cx="8520600" cy="37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02122"/>
                </a:solidFill>
                <a:highlight>
                  <a:schemeClr val="dk1"/>
                </a:highlight>
              </a:rPr>
              <a:t>Name = input ()</a:t>
            </a:r>
            <a:endParaRPr>
              <a:solidFill>
                <a:srgbClr val="202122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02122"/>
                </a:solidFill>
                <a:highlight>
                  <a:schemeClr val="dk1"/>
                </a:highlight>
              </a:rPr>
              <a:t>GetDatabase()</a:t>
            </a:r>
            <a:endParaRPr>
              <a:solidFill>
                <a:srgbClr val="202122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202122"/>
                </a:solidFill>
              </a:rPr>
              <a:t>Try Display LocalDatabase (Name)</a:t>
            </a:r>
            <a:endParaRPr>
              <a:solidFill>
                <a:srgbClr val="20212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202122"/>
                </a:solidFill>
              </a:rPr>
              <a:t>If that didn't work</a:t>
            </a:r>
            <a:endParaRPr>
              <a:solidFill>
                <a:srgbClr val="20212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202122"/>
                </a:solidFill>
              </a:rPr>
              <a:t>	Display not in system Message</a:t>
            </a:r>
            <a:endParaRPr>
              <a:solidFill>
                <a:srgbClr val="20212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02122"/>
                </a:solidFill>
                <a:highlight>
                  <a:schemeClr val="dk1"/>
                </a:highlight>
              </a:rPr>
              <a:t>Try LocalDatabase (Name)</a:t>
            </a:r>
            <a:endParaRPr>
              <a:solidFill>
                <a:srgbClr val="202122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02122"/>
                </a:solidFill>
                <a:highlight>
                  <a:schemeClr val="dk1"/>
                </a:highlight>
              </a:rPr>
              <a:t>	update()</a:t>
            </a:r>
            <a:endParaRPr>
              <a:solidFill>
                <a:srgbClr val="202122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02122"/>
                </a:solidFill>
                <a:highlight>
                  <a:schemeClr val="dk1"/>
                </a:highlight>
              </a:rPr>
              <a:t>If that didn't wor</a:t>
            </a:r>
            <a:r>
              <a:rPr lang="en">
                <a:solidFill>
                  <a:srgbClr val="202122"/>
                </a:solidFill>
                <a:highlight>
                  <a:schemeClr val="dk1"/>
                </a:highlight>
              </a:rPr>
              <a:t>k</a:t>
            </a:r>
            <a:endParaRPr>
              <a:solidFill>
                <a:srgbClr val="202122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02122"/>
                </a:solidFill>
                <a:highlight>
                  <a:schemeClr val="dk1"/>
                </a:highlight>
              </a:rPr>
              <a:t>	add()</a:t>
            </a:r>
            <a:endParaRPr>
              <a:solidFill>
                <a:srgbClr val="202122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202122"/>
                </a:solidFill>
                <a:highlight>
                  <a:schemeClr val="dk1"/>
                </a:highlight>
              </a:rPr>
              <a:t>return()</a:t>
            </a:r>
            <a:endParaRPr>
              <a:solidFill>
                <a:srgbClr val="202122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2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Input Validation Types</a:t>
            </a:r>
            <a:endParaRPr/>
          </a:p>
        </p:txBody>
      </p:sp>
      <p:sp>
        <p:nvSpPr>
          <p:cNvPr id="184" name="Google Shape;184;p22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Verdana"/>
                <a:ea typeface="Verdana"/>
                <a:cs typeface="Verdana"/>
                <a:sym typeface="Verdana"/>
              </a:rPr>
              <a:t>Names</a:t>
            </a:r>
            <a:endParaRPr sz="15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latin typeface="Verdana"/>
                <a:ea typeface="Verdana"/>
                <a:cs typeface="Verdana"/>
                <a:sym typeface="Verdana"/>
              </a:rPr>
              <a:t>Integers </a:t>
            </a:r>
            <a:endParaRPr sz="15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latin typeface="Verdana"/>
                <a:ea typeface="Verdana"/>
                <a:cs typeface="Verdana"/>
                <a:sym typeface="Verdana"/>
              </a:rPr>
              <a:t>Bools</a:t>
            </a:r>
            <a:endParaRPr sz="15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latin typeface="Verdana"/>
                <a:ea typeface="Verdana"/>
                <a:cs typeface="Verdana"/>
                <a:sym typeface="Verdana"/>
              </a:rPr>
              <a:t>Strings</a:t>
            </a:r>
            <a:endParaRPr sz="15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5" name="Google Shape;185;p22"/>
          <p:cNvSpPr txBox="1"/>
          <p:nvPr/>
        </p:nvSpPr>
        <p:spPr>
          <a:xfrm>
            <a:off x="6839550" y="1990725"/>
            <a:ext cx="1485300" cy="4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Blank Strings</a:t>
            </a:r>
            <a:endParaRPr sz="15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6" name="Google Shape;186;p22"/>
          <p:cNvSpPr txBox="1"/>
          <p:nvPr/>
        </p:nvSpPr>
        <p:spPr>
          <a:xfrm>
            <a:off x="4301250" y="2360700"/>
            <a:ext cx="4023600" cy="4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Non Numbers, Decimals, and Negatives</a:t>
            </a:r>
            <a:endParaRPr sz="15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7" name="Google Shape;187;p22"/>
          <p:cNvSpPr txBox="1"/>
          <p:nvPr/>
        </p:nvSpPr>
        <p:spPr>
          <a:xfrm>
            <a:off x="5258150" y="2757600"/>
            <a:ext cx="2973000" cy="4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Anything Not True of False</a:t>
            </a:r>
            <a:endParaRPr sz="15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8" name="Google Shape;188;p22"/>
          <p:cNvSpPr txBox="1"/>
          <p:nvPr/>
        </p:nvSpPr>
        <p:spPr>
          <a:xfrm>
            <a:off x="4207550" y="3179700"/>
            <a:ext cx="4023600" cy="4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Nothing</a:t>
            </a:r>
            <a:endParaRPr sz="15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3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3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3"/>
          <p:cNvSpPr/>
          <p:nvPr/>
        </p:nvSpPr>
        <p:spPr>
          <a:xfrm>
            <a:off x="-323100" y="-192825"/>
            <a:ext cx="9630300" cy="5409300"/>
          </a:xfrm>
          <a:prstGeom prst="rect">
            <a:avLst/>
          </a:prstGeom>
          <a:solidFill>
            <a:srgbClr val="20212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"/>
          <p:cNvSpPr/>
          <p:nvPr/>
        </p:nvSpPr>
        <p:spPr>
          <a:xfrm>
            <a:off x="-1276750" y="-1021425"/>
            <a:ext cx="12694500" cy="6420300"/>
          </a:xfrm>
          <a:prstGeom prst="rect">
            <a:avLst/>
          </a:prstGeom>
          <a:solidFill>
            <a:srgbClr val="20212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1" name="Google Shape;201;p24" title="Screenshot_20241206_155502_Gallery.jpg"/>
          <p:cNvPicPr preferRelativeResize="0"/>
          <p:nvPr/>
        </p:nvPicPr>
        <p:blipFill rotWithShape="1">
          <a:blip r:embed="rId3">
            <a:alphaModFix/>
          </a:blip>
          <a:srcRect b="34146" l="0" r="0" t="33575"/>
          <a:stretch/>
        </p:blipFill>
        <p:spPr>
          <a:xfrm>
            <a:off x="895538" y="0"/>
            <a:ext cx="735291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5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5"/>
          <p:cNvSpPr/>
          <p:nvPr/>
        </p:nvSpPr>
        <p:spPr>
          <a:xfrm>
            <a:off x="-323100" y="-192825"/>
            <a:ext cx="9630300" cy="5409300"/>
          </a:xfrm>
          <a:prstGeom prst="rect">
            <a:avLst/>
          </a:prstGeom>
          <a:solidFill>
            <a:srgbClr val="20212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Citations</a:t>
            </a:r>
            <a:endParaRPr/>
          </a:p>
        </p:txBody>
      </p:sp>
      <p:sp>
        <p:nvSpPr>
          <p:cNvPr id="214" name="Google Shape;214;p26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2700" lvl="0" marL="3556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English, J. K., &amp; Avila, Estella (2024, December 6). personal. </a:t>
            </a:r>
            <a:endParaRPr sz="1500"/>
          </a:p>
          <a:p>
            <a:pPr indent="-12700" lvl="0" marL="3556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English, J. K., &amp; Smith, Rosalind (2024, December 7). personal. </a:t>
            </a:r>
            <a:endParaRPr sz="1500"/>
          </a:p>
          <a:p>
            <a:pPr indent="-12700" lvl="0" marL="3556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English, J. K., &amp; Morales, Vyanka (2024, December 7). personal. </a:t>
            </a:r>
            <a:endParaRPr sz="1500"/>
          </a:p>
          <a:p>
            <a:pPr indent="-12700" lvl="0" marL="3556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English, J. K., &amp; Kendall, </a:t>
            </a:r>
            <a:r>
              <a:rPr lang="en" sz="1500"/>
              <a:t>Emily</a:t>
            </a:r>
            <a:r>
              <a:rPr lang="en" sz="1500"/>
              <a:t> (2024, December 7). personal. 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